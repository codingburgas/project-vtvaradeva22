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7" r:id="rId5"/>
    <p:sldId id="268" r:id="rId6"/>
    <p:sldId id="269" r:id="rId7"/>
    <p:sldId id="264" r:id="rId8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85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5FCD-8887-78B1-928B-BACA0D2D0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93290-621C-39D8-AB45-6421717CA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94C0A-AA0F-D09A-0058-D0CAE7C4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ADF80-DCAA-E1A4-74CD-141DC98F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233E1-B4CD-5533-A285-B6FC35D6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7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DE16-3350-7F76-0068-B30C9DBE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F7D8D-69CB-2166-B77B-9C66431E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C4680-02DE-F1A0-AA00-2FE370B3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100FE-D47D-2ECE-BEFB-1180E318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66F2F-0445-91CB-67C1-4AFEB962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0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66CE-6309-EBF4-28A6-E3C58DC9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DD3AE-431E-04BF-AE27-BE7CAA637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C4656-7ABC-F789-3A5A-86E330E1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183A6-FF5B-B7A3-65DA-475C3D91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34DC3-1F14-FA03-1323-0CEE8204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2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148E-0B50-1C4A-0603-AA792882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6F16-519A-5287-2F06-5C3C44C01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4DEE6-3D49-3B53-A670-B7D7D48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5A5F4-1B75-FC01-75E8-D445E99A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C4426-F0AE-43E4-A093-7E69AEE4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285AD-6BF9-6E74-DF3E-447E55D1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1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57A1-42D7-A062-3579-22C6C527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11668-2F1A-F1A4-5EC2-CF25F874C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A5559-000E-E084-C0A9-6D31ADA3E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7EFCE-1224-ECFB-F9C7-8C6D2B81B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06FC5-4E64-5587-7B91-C96D04BE4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18774-8F3A-043D-4C0D-32CE8524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D11E0-EB09-77DF-195A-811C8440F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BBAB79-F0EB-D25A-8C04-15332AE5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0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2727-9BC5-81F5-A097-6C9938B9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436C4-582C-81C2-A67C-23FC3721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066BC-A395-24D7-6662-CCFC0EEC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752BD-01D8-1639-61DF-B458F733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1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FC75F-1238-F86D-EED2-D4D2EAB2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4BD2B-0D50-E92F-989F-084072FC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40793-6035-AB9A-2E4D-07728830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98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20E8-D032-83D9-998F-F69169C5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4CDD6-06A4-0BA1-27EE-1998B0824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C2254-0D50-8AA3-8DB6-9F5EE3AA7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62F45-6504-DE88-06B2-7EE76E65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60824-8074-E124-BCB0-842A9BC5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37257-7289-8545-AB17-68628E2A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967B0-A3D7-BBFA-0B74-B0FE9F88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F52E9-D5D9-78DA-FC5F-24351A0EF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07A71-5529-1E99-DEF5-B13885DDB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3A76A-9504-C37D-EC6E-825F2E50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FB2E1-5B0D-4F4B-CA29-301BDE44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4A894-5445-8B75-5D96-07339CAB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04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AAA3-6B50-AA45-CE4A-E4811718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72CD6-DA68-7822-1ADB-6DC75A91A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FA705-7E2D-3032-FAE8-40B9DA23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E486A-2938-6512-999D-BDDCC2E4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2D9EA-413C-294B-7861-97338AD2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9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ABECBD-76F8-219D-3244-FEE6FD940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F2166-C583-9E50-73A4-3FF5561AF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1F3D1-8B82-8E09-97D2-EF2DBCC3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07A2F-A4E7-3241-97AE-56FB72C1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812A9-52A6-C896-3A74-B8281B69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52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539B1-BBD4-CEBC-E88D-35F5782B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89A16-27A5-E543-623E-4BCF42C40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7B87-95C5-FCBE-0E96-349467575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8A022-1944-4B7D-B957-46A70DE405B7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86B13-A47F-8D4F-406F-85B6C476C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8748F-D7D4-2802-2936-8EC872570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D8826-6DC0-44AA-9EBC-D8F7D24A6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5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1F3723-4D32-F3F4-3990-F469EC03299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CF6645-9784-5129-81F5-C01F10715207}"/>
              </a:ext>
            </a:extLst>
          </p:cNvPr>
          <p:cNvSpPr/>
          <p:nvPr/>
        </p:nvSpPr>
        <p:spPr>
          <a:xfrm>
            <a:off x="5560430" y="-157609"/>
            <a:ext cx="4064000" cy="4064000"/>
          </a:xfrm>
          <a:prstGeom prst="ellipse">
            <a:avLst/>
          </a:prstGeom>
          <a:solidFill>
            <a:srgbClr val="F4BFD3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4E44F4-6360-2FD9-195D-191019F3B3D6}"/>
              </a:ext>
            </a:extLst>
          </p:cNvPr>
          <p:cNvSpPr/>
          <p:nvPr/>
        </p:nvSpPr>
        <p:spPr>
          <a:xfrm>
            <a:off x="-359056" y="2561397"/>
            <a:ext cx="3556000" cy="3556000"/>
          </a:xfrm>
          <a:prstGeom prst="ellipse">
            <a:avLst/>
          </a:prstGeom>
          <a:solidFill>
            <a:srgbClr val="F4BFD3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5E6202-3176-5819-CA7E-4DDCC3CA8EB3}"/>
              </a:ext>
            </a:extLst>
          </p:cNvPr>
          <p:cNvSpPr/>
          <p:nvPr/>
        </p:nvSpPr>
        <p:spPr>
          <a:xfrm>
            <a:off x="1176599" y="1282184"/>
            <a:ext cx="7006541" cy="3533914"/>
          </a:xfrm>
          <a:prstGeom prst="rect">
            <a:avLst/>
          </a:prstGeom>
          <a:solidFill>
            <a:srgbClr val="FFFFFF"/>
          </a:solidFill>
          <a:ln w="19050">
            <a:solidFill>
              <a:srgbClr val="EEC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125CE-C462-10FB-3C02-F41FD3F8BB09}"/>
              </a:ext>
            </a:extLst>
          </p:cNvPr>
          <p:cNvSpPr txBox="1"/>
          <p:nvPr/>
        </p:nvSpPr>
        <p:spPr>
          <a:xfrm>
            <a:off x="82470" y="108059"/>
            <a:ext cx="533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800" dirty="0">
                <a:solidFill>
                  <a:srgbClr val="B65784"/>
                </a:solidFill>
                <a:latin typeface="Segoe UI" panose="020B0502040204020203" pitchFamily="34" charset="0"/>
              </a:rPr>
              <a:t>Prepared by: Veselina Varadeva 11 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FAD8E-B8A4-BEAA-4266-FE3DD2C78780}"/>
              </a:ext>
            </a:extLst>
          </p:cNvPr>
          <p:cNvSpPr txBox="1"/>
          <p:nvPr/>
        </p:nvSpPr>
        <p:spPr>
          <a:xfrm>
            <a:off x="1316941" y="1435641"/>
            <a:ext cx="965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dirty="0">
                <a:solidFill>
                  <a:srgbClr val="33242D"/>
                </a:solidFill>
                <a:latin typeface="Segoe UI Semibold" panose="020B0702040204020203" pitchFamily="34" charset="0"/>
              </a:rPr>
              <a:t>Task Manager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F787B-BFDA-A286-EDDD-0FDB7E75E84C}"/>
              </a:ext>
            </a:extLst>
          </p:cNvPr>
          <p:cNvSpPr txBox="1"/>
          <p:nvPr/>
        </p:nvSpPr>
        <p:spPr>
          <a:xfrm>
            <a:off x="1299057" y="2561397"/>
            <a:ext cx="3937885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</a:rPr>
              <a:t>A web application for organizing boards, lists and tasks with role-based access, dashboard statistics and Kanban workflow.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24EE36-F45D-5A4B-3B01-004B34B73E87}"/>
              </a:ext>
            </a:extLst>
          </p:cNvPr>
          <p:cNvSpPr/>
          <p:nvPr/>
        </p:nvSpPr>
        <p:spPr>
          <a:xfrm>
            <a:off x="5416470" y="699641"/>
            <a:ext cx="3429000" cy="2349500"/>
          </a:xfrm>
          <a:prstGeom prst="rect">
            <a:avLst/>
          </a:prstGeom>
          <a:solidFill>
            <a:srgbClr val="FFFFFF"/>
          </a:solidFill>
          <a:ln w="15875">
            <a:solidFill>
              <a:srgbClr val="EECFDC"/>
            </a:solidFill>
          </a:ln>
          <a:effectLst>
            <a:outerShdw blurRad="101600" dist="63500" dir="3187822" rotWithShape="0">
              <a:srgbClr val="F4BFD3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CB932A-2225-6383-4F88-E8D02476C8A4}"/>
              </a:ext>
            </a:extLst>
          </p:cNvPr>
          <p:cNvSpPr txBox="1"/>
          <p:nvPr/>
        </p:nvSpPr>
        <p:spPr>
          <a:xfrm>
            <a:off x="5516944" y="825679"/>
            <a:ext cx="2971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800" dirty="0">
                <a:solidFill>
                  <a:srgbClr val="B65784"/>
                </a:solidFill>
                <a:latin typeface="Segoe UI Semibold" panose="020B0702040204020203" pitchFamily="34" charset="0"/>
              </a:rPr>
              <a:t>Project Tools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51217-DC17-FB99-BE35-36BB9E7A2460}"/>
              </a:ext>
            </a:extLst>
          </p:cNvPr>
          <p:cNvSpPr txBox="1"/>
          <p:nvPr/>
        </p:nvSpPr>
        <p:spPr>
          <a:xfrm>
            <a:off x="5516944" y="1321049"/>
            <a:ext cx="29718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33242D"/>
                </a:solidFill>
                <a:latin typeface="Segoe UI" panose="020B0502040204020203" pitchFamily="34" charset="0"/>
              </a:rPr>
              <a:t>A</a:t>
            </a:r>
            <a:r>
              <a:rPr lang="en-US" sz="1600" dirty="0">
                <a:latin typeface="Segoe UI" panose="020B0502040204020203" pitchFamily="34" charset="0"/>
              </a:rPr>
              <a:t>SP.NET Core MVC
Entity Framework Core
SQL Server / SSMS
JetBrains Rider
Git and GitHub</a:t>
            </a:r>
          </a:p>
        </p:txBody>
      </p:sp>
    </p:spTree>
    <p:extLst>
      <p:ext uri="{BB962C8B-B14F-4D97-AF65-F5344CB8AC3E}">
        <p14:creationId xmlns:p14="http://schemas.microsoft.com/office/powerpoint/2010/main" val="307131181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DDC983-E0E7-4E19-2ED0-E819ED331589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4F8F6-67AB-CE5C-3C92-584A10E743FA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D879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61A451-E304-E83E-AF3E-CE2E3A2B3030}"/>
              </a:ext>
            </a:extLst>
          </p:cNvPr>
          <p:cNvSpPr/>
          <p:nvPr/>
        </p:nvSpPr>
        <p:spPr>
          <a:xfrm>
            <a:off x="0" y="609600"/>
            <a:ext cx="1397000" cy="5105400"/>
          </a:xfrm>
          <a:prstGeom prst="rect">
            <a:avLst/>
          </a:prstGeom>
          <a:solidFill>
            <a:srgbClr val="F8E7EF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AC1DAF-F2AF-8635-0C42-C256A9ED7684}"/>
              </a:ext>
            </a:extLst>
          </p:cNvPr>
          <p:cNvSpPr/>
          <p:nvPr/>
        </p:nvSpPr>
        <p:spPr>
          <a:xfrm>
            <a:off x="-276506" y="3175000"/>
            <a:ext cx="2794000" cy="2794000"/>
          </a:xfrm>
          <a:prstGeom prst="ellipse">
            <a:avLst/>
          </a:prstGeom>
          <a:solidFill>
            <a:srgbClr val="F4BFD3">
              <a:alpha val="6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8C966B-E0F8-2AFD-2D2A-17C7ECE9D000}"/>
              </a:ext>
            </a:extLst>
          </p:cNvPr>
          <p:cNvSpPr/>
          <p:nvPr/>
        </p:nvSpPr>
        <p:spPr>
          <a:xfrm>
            <a:off x="7048500" y="-40873"/>
            <a:ext cx="2286000" cy="2286000"/>
          </a:xfrm>
          <a:prstGeom prst="ellipse">
            <a:avLst/>
          </a:prstGeom>
          <a:solidFill>
            <a:srgbClr val="F4BFD3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31FF0-39A6-65ED-3AB4-9128D8DDF6C7}"/>
              </a:ext>
            </a:extLst>
          </p:cNvPr>
          <p:cNvSpPr txBox="1"/>
          <p:nvPr/>
        </p:nvSpPr>
        <p:spPr>
          <a:xfrm>
            <a:off x="1397000" y="650473"/>
            <a:ext cx="11430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dirty="0">
                <a:solidFill>
                  <a:srgbClr val="33242D"/>
                </a:solidFill>
                <a:latin typeface="Segoe UI Semibold" panose="020B0702040204020203" pitchFamily="34" charset="0"/>
              </a:rPr>
              <a:t>Topic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2C97D-95BA-ED19-95AF-684DC3983145}"/>
              </a:ext>
            </a:extLst>
          </p:cNvPr>
          <p:cNvSpPr txBox="1"/>
          <p:nvPr/>
        </p:nvSpPr>
        <p:spPr>
          <a:xfrm>
            <a:off x="2584611" y="2124678"/>
            <a:ext cx="6492272" cy="132343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• Task Manager is designed to help users organize work in a clean Kanban-style process.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The project focuses on clarity, role-based access and easy task tracking.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It supports boards, lists, tasks, deadlines, priorities and dashboard statistics.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The main goal is to make project work structured, visual and easy to manage.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875F9-9C46-B8DA-C8B4-A070B39AE86B}"/>
              </a:ext>
            </a:extLst>
          </p:cNvPr>
          <p:cNvSpPr txBox="1"/>
          <p:nvPr/>
        </p:nvSpPr>
        <p:spPr>
          <a:xfrm>
            <a:off x="1841500" y="81280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7B6774"/>
                </a:solidFill>
                <a:latin typeface="Segoe UI" panose="020B0502040204020203" pitchFamily="34" charset="0"/>
              </a:rPr>
              <a:t>Introduction to the theme and project purpose.</a:t>
            </a:r>
          </a:p>
        </p:txBody>
      </p:sp>
    </p:spTree>
    <p:extLst>
      <p:ext uri="{BB962C8B-B14F-4D97-AF65-F5344CB8AC3E}">
        <p14:creationId xmlns:p14="http://schemas.microsoft.com/office/powerpoint/2010/main" val="59546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BCBB1-FFED-F018-0D46-4F07F916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9C438A-EE56-68C9-B801-5496FF5048E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D55B7-2081-7DE0-A1A0-D1221B3096ED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D879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BF27E-8744-01FB-606B-4959C55A32B7}"/>
              </a:ext>
            </a:extLst>
          </p:cNvPr>
          <p:cNvSpPr/>
          <p:nvPr/>
        </p:nvSpPr>
        <p:spPr>
          <a:xfrm>
            <a:off x="0" y="609600"/>
            <a:ext cx="1397000" cy="5105400"/>
          </a:xfrm>
          <a:prstGeom prst="rect">
            <a:avLst/>
          </a:prstGeom>
          <a:solidFill>
            <a:srgbClr val="F8E7EF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AA2E04-F9E5-CE3B-C46B-D6ED1C620CC0}"/>
              </a:ext>
            </a:extLst>
          </p:cNvPr>
          <p:cNvSpPr/>
          <p:nvPr/>
        </p:nvSpPr>
        <p:spPr>
          <a:xfrm>
            <a:off x="-276506" y="3175000"/>
            <a:ext cx="2794000" cy="2794000"/>
          </a:xfrm>
          <a:prstGeom prst="ellipse">
            <a:avLst/>
          </a:prstGeom>
          <a:solidFill>
            <a:srgbClr val="F4BFD3">
              <a:alpha val="6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8457FD5-7EAD-2B79-A5CA-211A4C578613}"/>
              </a:ext>
            </a:extLst>
          </p:cNvPr>
          <p:cNvSpPr/>
          <p:nvPr/>
        </p:nvSpPr>
        <p:spPr>
          <a:xfrm>
            <a:off x="7048500" y="-40873"/>
            <a:ext cx="2286000" cy="2286000"/>
          </a:xfrm>
          <a:prstGeom prst="ellipse">
            <a:avLst/>
          </a:prstGeom>
          <a:solidFill>
            <a:srgbClr val="F4BFD3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DD98A-6E00-A0C2-BB9B-B77D6C974192}"/>
              </a:ext>
            </a:extLst>
          </p:cNvPr>
          <p:cNvSpPr txBox="1"/>
          <p:nvPr/>
        </p:nvSpPr>
        <p:spPr>
          <a:xfrm>
            <a:off x="1397000" y="650473"/>
            <a:ext cx="11430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dirty="0">
                <a:solidFill>
                  <a:srgbClr val="33242D"/>
                </a:solidFill>
                <a:latin typeface="Segoe UI Semibold" panose="020B0702040204020203" pitchFamily="34" charset="0"/>
              </a:rPr>
              <a:t>Research and Existing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2487B-6B0C-1B55-817C-3CEB6B27DEDE}"/>
              </a:ext>
            </a:extLst>
          </p:cNvPr>
          <p:cNvSpPr txBox="1"/>
          <p:nvPr/>
        </p:nvSpPr>
        <p:spPr>
          <a:xfrm>
            <a:off x="2584611" y="2106880"/>
            <a:ext cx="6492272" cy="132343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• The idea is inspired by modern task management platforms such as Trello and similar Kanban systems.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Existing solutions show the value of boards, drag-and-drop task flow and role-based organization.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For this project, the focus was to build a simpler academic version with core useful features.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The system keeps the familiar workflow but adapts it to a student project scope.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C4161-8106-4A1A-B38C-9FB1409B497D}"/>
              </a:ext>
            </a:extLst>
          </p:cNvPr>
          <p:cNvSpPr txBox="1"/>
          <p:nvPr/>
        </p:nvSpPr>
        <p:spPr>
          <a:xfrm>
            <a:off x="1841500" y="81280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7B6774"/>
                </a:solidFill>
                <a:latin typeface="Segoe UI" panose="020B0502040204020203" pitchFamily="34" charset="0"/>
              </a:rPr>
              <a:t>Introduction to the theme and project purpose.</a:t>
            </a:r>
          </a:p>
        </p:txBody>
      </p:sp>
    </p:spTree>
    <p:extLst>
      <p:ext uri="{BB962C8B-B14F-4D97-AF65-F5344CB8AC3E}">
        <p14:creationId xmlns:p14="http://schemas.microsoft.com/office/powerpoint/2010/main" val="237106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9E2A-1BE7-A0AE-C451-89EDE3C6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080215-A926-088B-A621-FA726BF9F55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73DC5-4491-C68A-7DE6-9520D163A30D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D879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8B5D0-D020-1C0F-FC4F-C5745A1A74D3}"/>
              </a:ext>
            </a:extLst>
          </p:cNvPr>
          <p:cNvSpPr/>
          <p:nvPr/>
        </p:nvSpPr>
        <p:spPr>
          <a:xfrm>
            <a:off x="0" y="609600"/>
            <a:ext cx="1397000" cy="5105400"/>
          </a:xfrm>
          <a:prstGeom prst="rect">
            <a:avLst/>
          </a:prstGeom>
          <a:solidFill>
            <a:srgbClr val="F8E7EF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A41627-E60F-2D01-2543-AA488427DD85}"/>
              </a:ext>
            </a:extLst>
          </p:cNvPr>
          <p:cNvSpPr/>
          <p:nvPr/>
        </p:nvSpPr>
        <p:spPr>
          <a:xfrm>
            <a:off x="-276506" y="3175000"/>
            <a:ext cx="2794000" cy="2794000"/>
          </a:xfrm>
          <a:prstGeom prst="ellipse">
            <a:avLst/>
          </a:prstGeom>
          <a:solidFill>
            <a:srgbClr val="F4BFD3">
              <a:alpha val="6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C189C8-CB02-5E42-031D-F13DAFB41401}"/>
              </a:ext>
            </a:extLst>
          </p:cNvPr>
          <p:cNvSpPr/>
          <p:nvPr/>
        </p:nvSpPr>
        <p:spPr>
          <a:xfrm>
            <a:off x="7048500" y="-40873"/>
            <a:ext cx="2286000" cy="2286000"/>
          </a:xfrm>
          <a:prstGeom prst="ellipse">
            <a:avLst/>
          </a:prstGeom>
          <a:solidFill>
            <a:srgbClr val="F4BFD3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55BC-9749-C035-3C73-4D3621A91231}"/>
              </a:ext>
            </a:extLst>
          </p:cNvPr>
          <p:cNvSpPr txBox="1"/>
          <p:nvPr/>
        </p:nvSpPr>
        <p:spPr>
          <a:xfrm>
            <a:off x="1397000" y="650473"/>
            <a:ext cx="11430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dirty="0">
                <a:solidFill>
                  <a:srgbClr val="33242D"/>
                </a:solidFill>
                <a:latin typeface="Segoe UI Semibold" panose="020B0702040204020203" pitchFamily="34" charset="0"/>
              </a:rPr>
              <a:t>Architecture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2A8DF-162F-90E5-6C2F-A5216DE4C00E}"/>
              </a:ext>
            </a:extLst>
          </p:cNvPr>
          <p:cNvSpPr txBox="1"/>
          <p:nvPr/>
        </p:nvSpPr>
        <p:spPr>
          <a:xfrm>
            <a:off x="2517494" y="2110089"/>
            <a:ext cx="6492272" cy="329227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• The application follows a layered MVC architecture.
• Controllers handle requests and navigation flow.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Services contain the business logic for boards, lists, tasks, dashboard statistics and user management.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Repositories and ApplicationDbContext manage data access.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Models, DTOs and ViewModels separate database entities from UI-specific data.
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E32DA-CDE8-0346-F83E-34B668B42DAB}"/>
              </a:ext>
            </a:extLst>
          </p:cNvPr>
          <p:cNvSpPr txBox="1"/>
          <p:nvPr/>
        </p:nvSpPr>
        <p:spPr>
          <a:xfrm>
            <a:off x="1841500" y="81280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7B6774"/>
                </a:solidFill>
                <a:latin typeface="Segoe UI" panose="020B0502040204020203" pitchFamily="34" charset="0"/>
              </a:rPr>
              <a:t>Introduction to the theme and project purpose.</a:t>
            </a:r>
          </a:p>
        </p:txBody>
      </p:sp>
    </p:spTree>
    <p:extLst>
      <p:ext uri="{BB962C8B-B14F-4D97-AF65-F5344CB8AC3E}">
        <p14:creationId xmlns:p14="http://schemas.microsoft.com/office/powerpoint/2010/main" val="210672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3C09-8C39-AA3F-29A8-32354ABA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7F9B99-8A75-E14D-3DE4-34704C40231A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B8C4FB-DB35-232E-1D31-53E63DB51E1E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D879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DE6F13-CF3C-5B4D-120B-4A7034938F16}"/>
              </a:ext>
            </a:extLst>
          </p:cNvPr>
          <p:cNvSpPr/>
          <p:nvPr/>
        </p:nvSpPr>
        <p:spPr>
          <a:xfrm>
            <a:off x="0" y="609600"/>
            <a:ext cx="1397000" cy="5105400"/>
          </a:xfrm>
          <a:prstGeom prst="rect">
            <a:avLst/>
          </a:prstGeom>
          <a:solidFill>
            <a:srgbClr val="F8E7EF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B862B9-68BF-BAAB-A649-6A0442661016}"/>
              </a:ext>
            </a:extLst>
          </p:cNvPr>
          <p:cNvSpPr/>
          <p:nvPr/>
        </p:nvSpPr>
        <p:spPr>
          <a:xfrm>
            <a:off x="-496425" y="3479800"/>
            <a:ext cx="2794000" cy="2794000"/>
          </a:xfrm>
          <a:prstGeom prst="ellipse">
            <a:avLst/>
          </a:prstGeom>
          <a:solidFill>
            <a:srgbClr val="F4BFD3">
              <a:alpha val="6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AC722F-77FD-7808-C1BB-864CBB7CEAAF}"/>
              </a:ext>
            </a:extLst>
          </p:cNvPr>
          <p:cNvSpPr/>
          <p:nvPr/>
        </p:nvSpPr>
        <p:spPr>
          <a:xfrm>
            <a:off x="7048500" y="-40873"/>
            <a:ext cx="2286000" cy="2286000"/>
          </a:xfrm>
          <a:prstGeom prst="ellipse">
            <a:avLst/>
          </a:prstGeom>
          <a:solidFill>
            <a:srgbClr val="F4BFD3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A6953-6E4A-A728-4BAA-978DC8DA35BD}"/>
              </a:ext>
            </a:extLst>
          </p:cNvPr>
          <p:cNvSpPr txBox="1"/>
          <p:nvPr/>
        </p:nvSpPr>
        <p:spPr>
          <a:xfrm>
            <a:off x="1397000" y="650473"/>
            <a:ext cx="11430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dirty="0">
                <a:solidFill>
                  <a:srgbClr val="33242D"/>
                </a:solidFill>
                <a:latin typeface="Segoe UI Semibold" panose="020B0702040204020203" pitchFamily="34" charset="0"/>
              </a:rPr>
              <a:t>Functionalities and Roles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39E34-E770-67F8-49A1-045EC5DF2732}"/>
              </a:ext>
            </a:extLst>
          </p:cNvPr>
          <p:cNvSpPr txBox="1"/>
          <p:nvPr/>
        </p:nvSpPr>
        <p:spPr>
          <a:xfrm>
            <a:off x="1841500" y="1778000"/>
            <a:ext cx="7235383" cy="132343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• Users can register, log in and work with their own boards and tasks.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Boards can contain multiple lists, and lists contain tasks.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Tasks support title, description, priority, status, deadline and assignment.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Drag-and-drop movement between lists improves workflow visualization.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The Admin role can view all users and update their roles.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56735-1698-FA17-D99E-911CA2752ABD}"/>
              </a:ext>
            </a:extLst>
          </p:cNvPr>
          <p:cNvSpPr txBox="1"/>
          <p:nvPr/>
        </p:nvSpPr>
        <p:spPr>
          <a:xfrm>
            <a:off x="1841500" y="81280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7B6774"/>
                </a:solidFill>
                <a:latin typeface="Segoe UI" panose="020B0502040204020203" pitchFamily="34" charset="0"/>
              </a:rPr>
              <a:t>Introduction to the theme and project purpose.</a:t>
            </a:r>
          </a:p>
        </p:txBody>
      </p:sp>
    </p:spTree>
    <p:extLst>
      <p:ext uri="{BB962C8B-B14F-4D97-AF65-F5344CB8AC3E}">
        <p14:creationId xmlns:p14="http://schemas.microsoft.com/office/powerpoint/2010/main" val="299535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3D04-AD09-2DEF-29BA-6EE56F8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7FE558-FF9F-B6C7-792C-8D9548ED167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4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CB8658-83C1-9944-6581-DBCF2CBE4611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D879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50DAB-653F-5DE8-20E3-D8B4677EEF4B}"/>
              </a:ext>
            </a:extLst>
          </p:cNvPr>
          <p:cNvSpPr/>
          <p:nvPr/>
        </p:nvSpPr>
        <p:spPr>
          <a:xfrm>
            <a:off x="0" y="609600"/>
            <a:ext cx="1397000" cy="5105400"/>
          </a:xfrm>
          <a:prstGeom prst="rect">
            <a:avLst/>
          </a:prstGeom>
          <a:solidFill>
            <a:srgbClr val="F8E7EF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91D10C-B0A8-B8BB-11B3-A38D0C4F1089}"/>
              </a:ext>
            </a:extLst>
          </p:cNvPr>
          <p:cNvSpPr/>
          <p:nvPr/>
        </p:nvSpPr>
        <p:spPr>
          <a:xfrm>
            <a:off x="-276506" y="3175000"/>
            <a:ext cx="2794000" cy="2794000"/>
          </a:xfrm>
          <a:prstGeom prst="ellipse">
            <a:avLst/>
          </a:prstGeom>
          <a:solidFill>
            <a:srgbClr val="F4BFD3">
              <a:alpha val="6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58E172-DE76-BC31-7DE3-81EF2E89100C}"/>
              </a:ext>
            </a:extLst>
          </p:cNvPr>
          <p:cNvSpPr/>
          <p:nvPr/>
        </p:nvSpPr>
        <p:spPr>
          <a:xfrm>
            <a:off x="7048500" y="-40873"/>
            <a:ext cx="2286000" cy="2286000"/>
          </a:xfrm>
          <a:prstGeom prst="ellipse">
            <a:avLst/>
          </a:prstGeom>
          <a:solidFill>
            <a:srgbClr val="F4BFD3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BC4E9-CDF6-7AFD-15AA-D0B9A563B9BD}"/>
              </a:ext>
            </a:extLst>
          </p:cNvPr>
          <p:cNvSpPr txBox="1"/>
          <p:nvPr/>
        </p:nvSpPr>
        <p:spPr>
          <a:xfrm>
            <a:off x="1397000" y="650473"/>
            <a:ext cx="11430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dirty="0">
                <a:solidFill>
                  <a:srgbClr val="33242D"/>
                </a:solidFill>
                <a:latin typeface="Segoe UI Semibold" panose="020B0702040204020203" pitchFamily="34" charset="0"/>
              </a:rPr>
              <a:t>Future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2C1B44-286C-99C4-FB0E-60F4A71CEF3F}"/>
              </a:ext>
            </a:extLst>
          </p:cNvPr>
          <p:cNvSpPr txBox="1"/>
          <p:nvPr/>
        </p:nvSpPr>
        <p:spPr>
          <a:xfrm>
            <a:off x="2584611" y="2160507"/>
            <a:ext cx="6492272" cy="302605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• Add search, sorting and advanced filtering for boards and tasks.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Introduce notifications and email reminders for deadlines.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Improve reporting with more charts and export options.</a:t>
            </a:r>
          </a:p>
          <a:p>
            <a:r>
              <a:rPr lang="en-US" sz="2000" dirty="0">
                <a:solidFill>
                  <a:srgbClr val="33242D"/>
                </a:solidFill>
                <a:latin typeface="Segoe UI" panose="020B0502040204020203" pitchFamily="34" charset="0"/>
              </a:rPr>
              <a:t>
• Add attachments and richer collaboration between users.
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4E442-AD84-BD1D-130E-923D057279FF}"/>
              </a:ext>
            </a:extLst>
          </p:cNvPr>
          <p:cNvSpPr txBox="1"/>
          <p:nvPr/>
        </p:nvSpPr>
        <p:spPr>
          <a:xfrm>
            <a:off x="1841500" y="81280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7B6774"/>
                </a:solidFill>
                <a:latin typeface="Segoe UI" panose="020B0502040204020203" pitchFamily="34" charset="0"/>
              </a:rPr>
              <a:t>Introduction to the theme and project purpose.</a:t>
            </a:r>
          </a:p>
        </p:txBody>
      </p:sp>
    </p:spTree>
    <p:extLst>
      <p:ext uri="{BB962C8B-B14F-4D97-AF65-F5344CB8AC3E}">
        <p14:creationId xmlns:p14="http://schemas.microsoft.com/office/powerpoint/2010/main" val="161972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40E7A3-D959-3E20-D6B1-BD4753768607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1DAA8C-6379-CB37-405D-D8CB78C9360E}"/>
              </a:ext>
            </a:extLst>
          </p:cNvPr>
          <p:cNvSpPr/>
          <p:nvPr/>
        </p:nvSpPr>
        <p:spPr>
          <a:xfrm>
            <a:off x="6179194" y="-270044"/>
            <a:ext cx="3302000" cy="3302000"/>
          </a:xfrm>
          <a:prstGeom prst="ellipse">
            <a:avLst/>
          </a:prstGeom>
          <a:solidFill>
            <a:srgbClr val="F4BFD3">
              <a:alpha val="7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C81DC-04C0-E54A-BA58-4ED80D368233}"/>
              </a:ext>
            </a:extLst>
          </p:cNvPr>
          <p:cNvSpPr/>
          <p:nvPr/>
        </p:nvSpPr>
        <p:spPr>
          <a:xfrm>
            <a:off x="910303" y="1291392"/>
            <a:ext cx="7601513" cy="3026608"/>
          </a:xfrm>
          <a:prstGeom prst="rect">
            <a:avLst/>
          </a:prstGeom>
          <a:solidFill>
            <a:srgbClr val="FFFFFF"/>
          </a:solidFill>
          <a:ln w="19050">
            <a:solidFill>
              <a:srgbClr val="EECF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0929F-567B-7FB5-5902-8361B3C5305A}"/>
              </a:ext>
            </a:extLst>
          </p:cNvPr>
          <p:cNvSpPr txBox="1"/>
          <p:nvPr/>
        </p:nvSpPr>
        <p:spPr>
          <a:xfrm>
            <a:off x="206014" y="2607072"/>
            <a:ext cx="889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dirty="0">
                <a:solidFill>
                  <a:srgbClr val="33242D"/>
                </a:solidFill>
                <a:latin typeface="Segoe UI Semibold" panose="020B0702040204020203" pitchFamily="34" charset="0"/>
              </a:rPr>
              <a:t>Let's jump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114997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426</Words>
  <Application>Microsoft Office PowerPoint</Application>
  <PresentationFormat>On-screen Show (16:10)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Веселина Томова Варадева</dc:creator>
  <cp:lastModifiedBy>Веселина Томова Варадева</cp:lastModifiedBy>
  <cp:revision>2</cp:revision>
  <dcterms:created xsi:type="dcterms:W3CDTF">2026-04-23T19:51:45Z</dcterms:created>
  <dcterms:modified xsi:type="dcterms:W3CDTF">2026-04-23T20:54:34Z</dcterms:modified>
</cp:coreProperties>
</file>